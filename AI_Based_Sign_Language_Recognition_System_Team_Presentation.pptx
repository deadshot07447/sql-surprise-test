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61" r:id="rId7"/>
    <p:sldId id="269" r:id="rId8"/>
    <p:sldId id="270" r:id="rId9"/>
    <p:sldId id="260" r:id="rId10"/>
    <p:sldId id="262" r:id="rId11"/>
    <p:sldId id="264" r:id="rId12"/>
    <p:sldId id="271" r:id="rId13"/>
    <p:sldId id="272" r:id="rId14"/>
    <p:sldId id="285" r:id="rId15"/>
    <p:sldId id="263" r:id="rId16"/>
    <p:sldId id="275" r:id="rId17"/>
    <p:sldId id="273" r:id="rId18"/>
    <p:sldId id="287" r:id="rId19"/>
    <p:sldId id="274" r:id="rId20"/>
    <p:sldId id="289" r:id="rId21"/>
    <p:sldId id="290" r:id="rId22"/>
    <p:sldId id="276" r:id="rId23"/>
    <p:sldId id="291" r:id="rId24"/>
    <p:sldId id="265" r:id="rId25"/>
    <p:sldId id="277" r:id="rId26"/>
    <p:sldId id="278" r:id="rId27"/>
    <p:sldId id="280" r:id="rId28"/>
    <p:sldId id="282" r:id="rId29"/>
    <p:sldId id="283" r:id="rId30"/>
    <p:sldId id="267" r:id="rId31"/>
  </p:sldIdLst>
  <p:sldSz cx="9902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22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732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DC0012"/>
                </a:solidFill>
                <a:latin typeface="Arial"/>
              </a:defRPr>
            </a:pPr>
            <a:r>
              <a:rPr sz="3400" b="1">
                <a:solidFill>
                  <a:srgbClr val="DC0012"/>
                </a:solidFill>
                <a:latin typeface="Arial"/>
              </a:rPr>
              <a:t>AI-Based Sign Language</a:t>
            </a:r>
            <a:r>
              <a:t/>
            </a:r>
            <a:br/>
            <a:r>
              <a:rPr sz="3400" b="1">
                <a:solidFill>
                  <a:srgbClr val="DC0012"/>
                </a:solidFill>
                <a:latin typeface="Arial"/>
              </a:rPr>
              <a:t>Recognition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91919"/>
                </a:solidFill>
                <a:latin typeface="Arial"/>
              </a:defRPr>
            </a:pPr>
            <a:r>
              <a:rPr sz="2200" b="0">
                <a:solidFill>
                  <a:srgbClr val="191919"/>
                </a:solidFill>
                <a:latin typeface="Arial"/>
              </a:rP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42062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191919"/>
                </a:solidFill>
                <a:latin typeface="Arial"/>
              </a:defRPr>
            </a:pPr>
            <a:r>
              <a:rPr sz="1900" b="0" dirty="0">
                <a:solidFill>
                  <a:srgbClr val="191919"/>
                </a:solidFill>
                <a:latin typeface="Arial"/>
              </a:rPr>
              <a:t>Satwik Patil</a:t>
            </a:r>
            <a:r>
              <a:rPr lang="en-IN" sz="1900" b="0" dirty="0">
                <a:solidFill>
                  <a:srgbClr val="191919"/>
                </a:solidFill>
                <a:latin typeface="Arial"/>
              </a:rPr>
              <a:t> (3343)</a:t>
            </a:r>
            <a:r>
              <a:rPr dirty="0"/>
              <a:t/>
            </a:r>
            <a:br>
              <a:rPr dirty="0"/>
            </a:br>
            <a:r>
              <a:rPr sz="1900" b="0" dirty="0">
                <a:solidFill>
                  <a:srgbClr val="191919"/>
                </a:solidFill>
                <a:latin typeface="Arial"/>
              </a:rPr>
              <a:t>Vedant Patil</a:t>
            </a:r>
            <a:r>
              <a:rPr lang="en-IN" sz="1900" b="0" dirty="0">
                <a:solidFill>
                  <a:srgbClr val="191919"/>
                </a:solidFill>
                <a:latin typeface="Arial"/>
              </a:rPr>
              <a:t> (3359)</a:t>
            </a:r>
            <a:r>
              <a:rPr dirty="0"/>
              <a:t/>
            </a:r>
            <a:br>
              <a:rPr dirty="0"/>
            </a:br>
            <a:r>
              <a:rPr sz="1900" b="0" dirty="0">
                <a:solidFill>
                  <a:srgbClr val="191919"/>
                </a:solidFill>
                <a:latin typeface="Arial"/>
              </a:rPr>
              <a:t>Arjit Upadhyay</a:t>
            </a:r>
            <a:r>
              <a:rPr lang="en-IN" sz="1900" b="0" dirty="0">
                <a:solidFill>
                  <a:srgbClr val="191919"/>
                </a:solidFill>
                <a:latin typeface="Arial"/>
              </a:rPr>
              <a:t> (3365)</a:t>
            </a:r>
            <a:r>
              <a:rPr dirty="0"/>
              <a:t/>
            </a:r>
            <a:br>
              <a:rPr dirty="0"/>
            </a:br>
            <a:r>
              <a:rPr sz="1900" b="0" dirty="0">
                <a:solidFill>
                  <a:srgbClr val="191919"/>
                </a:solidFill>
                <a:latin typeface="Arial"/>
              </a:rPr>
              <a:t>Siddharth Madhavi</a:t>
            </a:r>
            <a:r>
              <a:rPr lang="en-IN" sz="1900" b="0" dirty="0">
                <a:solidFill>
                  <a:srgbClr val="191919"/>
                </a:solidFill>
                <a:latin typeface="Arial"/>
              </a:rPr>
              <a:t> (3327)</a:t>
            </a:r>
            <a:endParaRPr sz="19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October 13,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7357" y="4800600"/>
            <a:ext cx="31808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A3B8"/>
                </a:solidFill>
                <a:latin typeface="Arial"/>
              </a:defRPr>
            </a:pPr>
            <a:r>
              <a:rPr dirty="0"/>
              <a:t>Computer </a:t>
            </a:r>
            <a:r>
              <a:rPr lang="en-IN" dirty="0"/>
              <a:t>Technology</a:t>
            </a:r>
            <a:r>
              <a:rPr dirty="0"/>
              <a:t> | Diploma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412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Project overview and communication problem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Objectives, scope and literature review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Proposed system, modules and technology stack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Architecture, website integration and user interface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AI workflow, data collection and model options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Testing, confidence handling and challenges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Applications, privacy and responsible use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Team responsibilities and development roadmap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Conclusion and learning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412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This project aims to recognize selected sign-language gestures using a camera.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An AI model studies the hand image or hand points and predicts the matching sign.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The predicted sign is shown as text. Speech output may be added as an extra feature.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The system could help make simple communication easier in classrooms and public places.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This is a prototype for selected signs, not a complete translator for every sign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919"/>
                </a:solidFill>
                <a:latin typeface="Arial"/>
              </a:defRPr>
            </a:pPr>
            <a:r>
              <a:rPr sz="2000" b="1">
                <a:solidFill>
                  <a:srgbClr val="191919"/>
                </a:solidFill>
                <a:latin typeface="Arial"/>
              </a:rPr>
              <a:t>Why is this project useful?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Sign language uses hand movements, body posture, and facial expressions.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People who do not understand sign language may find everyday conversations difficult.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AI can help a computer recognize some gestures from images or video.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This project will start with a small set of selected signs or letters and display the predicted meaning.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Why Is Sign Language Recognition Needed?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839419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Sign language allows many deaf and hard-of-hearing people to communicate, but not every listener knows it.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A communication gap can arise at reception desks, in classrooms, shops, hospitals, or public-service counters.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A camera-based tool could recognize a small set of supported signs and show their meanings as text.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A text result may help a person who does not understand the sign to follow a basic interaction.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The project is an additional communication aid. It is not a substitute for human interpreters or a complete sign-language translator.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919"/>
                </a:solidFill>
                <a:latin typeface="Arial"/>
              </a:defRPr>
            </a:pPr>
            <a:r>
              <a:rPr sz="2000" b="1">
                <a:solidFill>
                  <a:srgbClr val="191919"/>
                </a:solidFill>
                <a:latin typeface="Arial"/>
              </a:rPr>
              <a:t>Key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A person who does not know sign language may not understand the signer.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A human interpreter may not be available in every everyday situation.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Lighting, camera angle, background, and similar hand shapes can cause wrong predictions.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The project needs a clear limit: start with selected signs or letters and show their predicted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A3B8"/>
                </a:solidFill>
                <a:latin typeface="Arial"/>
              </a:defRPr>
            </a:pPr>
            <a:r>
              <a:rPr sz="1500" b="1">
                <a:solidFill>
                  <a:srgbClr val="2DA3B8"/>
                </a:solidFill>
                <a:latin typeface="Arial"/>
              </a:rPr>
              <a:t>Project scope: build a prototype that recognizes a selected set of signs or letters from camera input and displays the result as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Recognize a selected set of sign-language gestures using a camera.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Convert a recognized gesture into readable text on the screen.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Offer optional text-to-speech so a user can hear the recognized output.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Build a simple, low-cost prototype using technologies the team can learn and maintain.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Evaluate the prototype with different users, backgrounds, and lighting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Project Scope and Limitations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Initial scope: recognize a limited set of static signs or alphabet gestures.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Input: webcam or mobile-camera frames; output: a word or letter shown on screen.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Out of scope for the first version: translating every sign, full conversations, or every regional variation.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Accuracy may change with lighting, camera angle, hand occlusion, background, and differences between signers.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Sign languages use movement, facial expression, and grammar too; a small gesture model is not a complete interpreter.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rPr sz="3100" b="1">
                <a:solidFill>
                  <a:srgbClr val="DC0012"/>
                </a:solidFill>
                <a:latin typeface="Arial"/>
              </a:rPr>
              <a:t>Literature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915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29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Sr. No.</a:t>
                      </a:r>
                    </a:p>
                  </a:txBody>
                  <a:tcPr marL="73152" marR="73152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L="73152" marR="73152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Basic idea</a:t>
                      </a:r>
                    </a:p>
                  </a:txBody>
                  <a:tcPr marL="73152" marR="73152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 / limitations</a:t>
                      </a:r>
                    </a:p>
                  </a:txBody>
                  <a:tcPr marL="73152" marR="73152" marB="36576">
                    <a:solidFill>
                      <a:srgbClr val="2DA3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Rule-based recognition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Uses fixed rules for hand shapes.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Simple for a small set, but sensitive to hand position and lighting.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73152" marR="73152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Traditional machine learning</a:t>
                      </a:r>
                    </a:p>
                  </a:txBody>
                  <a:tcPr marL="73152" marR="73152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Uses selected features and a trained classifier.</a:t>
                      </a:r>
                    </a:p>
                  </a:txBody>
                  <a:tcPr marL="73152" marR="73152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Needs useful features and enough examples for each sign.</a:t>
                      </a:r>
                    </a:p>
                  </a:txBody>
                  <a:tcPr marL="73152" marR="73152" marB="36576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Deep learning / hand landmarks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Learns patterns from images or hand points.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Needs good training data and may fail on signs it has not learned.</a:t>
                      </a:r>
                    </a:p>
                  </a:txBody>
                  <a:tcPr marL="73152" marR="73152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1  •  SATWIK PATIL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Proposed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412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Capture a hand gesture using a webcam or mobile camera.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Find the hand in the image and prepare useful features for the AI model.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Train the model using labelled examples of the selected signs.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Test the model, then show the predicted sign as text during live use.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If the model is unsure, show “Sign not recognized” instead of guessing.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A3B8"/>
                </a:solidFill>
                <a:latin typeface="Arial"/>
              </a:defRPr>
            </a:pPr>
            <a:r>
              <a:rPr sz="1500" b="1">
                <a:solidFill>
                  <a:srgbClr val="2DA3B8"/>
                </a:solidFill>
                <a:latin typeface="Arial"/>
              </a:rPr>
              <a:t>Technology is not finalized. Tools will be chosen after comparing ease of use, accuracy, data needs, and available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Main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15544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1. Image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75688"/>
            <a:ext cx="2276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Captures images or video from the camera.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08760"/>
            <a:ext cx="2606040" cy="15544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61848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2. Hand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075688"/>
            <a:ext cx="2276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Finds the hand and prepares it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508760"/>
            <a:ext cx="2606040" cy="15544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1848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3. Sign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075688"/>
            <a:ext cx="2276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The trained model predicts one of the supported signs.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657600"/>
            <a:ext cx="2606040" cy="15544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79" y="37673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4. Text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4224528"/>
            <a:ext cx="2276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Displays the predicted sign or letter on the screen.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657600"/>
            <a:ext cx="2606040" cy="15544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37673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5. Optional Speech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224528"/>
            <a:ext cx="2276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Can read the recognized text aloud in a future version.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Technology Stack (Proposed)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057400" cy="14630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527048"/>
            <a:ext cx="18379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HTML +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9384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Create the web page, layout, buttons, camera area, and result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17320"/>
            <a:ext cx="2057400" cy="14630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1527048"/>
            <a:ext cx="18379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929384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Handle browser interaction, camera access, and requests to the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417320"/>
            <a:ext cx="2057400" cy="14630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1527048"/>
            <a:ext cx="18379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Java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9384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Can support a separate backend if the team prefers Java; not required for the AI prototype.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17320"/>
            <a:ext cx="2057400" cy="14630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7768" y="1527048"/>
            <a:ext cx="18379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Python +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29384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Likely easiest for image processing and model experimentation; keep this as a proposed choice.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Recommended simple route: HTML/CSS/JavaScript frontend + a small Python AI service.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Choose one backend approach only after testing a small proof of concept; avoid building the same feature twice.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Proposed System Architecture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1417320" cy="114300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221284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Makes a 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103120"/>
            <a:ext cx="1417320" cy="114300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221284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Web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615184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HTML/CSS/JS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103120"/>
            <a:ext cx="1417320" cy="114300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21284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15184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Receives frames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1417320" cy="114300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21284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AI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15184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Predicts gesture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03120"/>
            <a:ext cx="1417320" cy="114300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7" y="221284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15184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Text / speech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847088" y="2441448"/>
            <a:ext cx="384048" cy="36576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3767328" y="2441448"/>
            <a:ext cx="384048" cy="36576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5687568" y="2441448"/>
            <a:ext cx="384048" cy="36576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607808" y="2441448"/>
            <a:ext cx="384048" cy="36576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886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91919"/>
                </a:solidFill>
                <a:latin typeface="Arial"/>
              </a:defRPr>
            </a:pPr>
            <a:r>
              <a:t>The browser captures input, the backend passes suitable data to the recognition model, and the result is returned to the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A3B8"/>
                </a:solidFill>
                <a:latin typeface="Arial"/>
              </a:defRPr>
            </a:pPr>
            <a:r>
              <a:t>Implementation detail depends on the final choice of model and deployment method.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Connecting the Website to the AI Model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/>
              </a:defRPr>
            </a:pPr>
            <a:r>
              <a:t>A simple request-and-response design (proposed)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65960"/>
            <a:ext cx="1417320" cy="150876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207568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0012"/>
                </a:solidFill>
                <a:latin typeface="Arial"/>
              </a:defRPr>
            </a:pPr>
            <a:r>
              <a:t>Web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78024"/>
            <a:ext cx="11430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1919"/>
                </a:solidFill>
                <a:latin typeface="Arial"/>
              </a:defRPr>
            </a:pPr>
            <a:r>
              <a:t>HTML + CSS</a:t>
            </a:r>
            <a:br/>
            <a:r>
              <a:t>shows camera and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965960"/>
            <a:ext cx="1417320" cy="150876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5456" y="207568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0012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478024"/>
            <a:ext cx="11430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1919"/>
                </a:solidFill>
                <a:latin typeface="Arial"/>
              </a:defRPr>
            </a:pPr>
            <a:r>
              <a:t>captures input and</a:t>
            </a:r>
            <a:br/>
            <a:r>
              <a:t>sends a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965960"/>
            <a:ext cx="1417320" cy="150876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207568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0012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478024"/>
            <a:ext cx="11430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1919"/>
                </a:solidFill>
                <a:latin typeface="Arial"/>
              </a:defRPr>
            </a:pPr>
            <a:r>
              <a:t>receives input and</a:t>
            </a:r>
            <a:br/>
            <a:r>
              <a:t>calls the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1965960"/>
            <a:ext cx="1417320" cy="150876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7568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0012"/>
                </a:solidFill>
                <a:latin typeface="Arial"/>
              </a:defRPr>
            </a:pPr>
            <a:r>
              <a:t>AI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478024"/>
            <a:ext cx="11430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1919"/>
                </a:solidFill>
                <a:latin typeface="Arial"/>
              </a:defRPr>
            </a:pPr>
            <a:r>
              <a:t>predicts a supported</a:t>
            </a:r>
            <a:br/>
            <a:r>
              <a:t>sign label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1965960"/>
            <a:ext cx="1417320" cy="150876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2075688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0012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478024"/>
            <a:ext cx="11430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1919"/>
                </a:solidFill>
                <a:latin typeface="Arial"/>
              </a:defRPr>
            </a:pPr>
            <a:r>
              <a:t>returns label and</a:t>
            </a:r>
            <a:br/>
            <a:r>
              <a:t>status to the page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938528" y="2532888"/>
            <a:ext cx="347472" cy="347472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3922776" y="2532888"/>
            <a:ext cx="347472" cy="347472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5907024" y="2532888"/>
            <a:ext cx="347472" cy="347472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7891272" y="2532888"/>
            <a:ext cx="347472" cy="347472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97763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The browser and AI model should communicate through a clear interface, such as a small HTTP API.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Example response fields could be: predicted_sign, confidence, and status.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This is a proposed design; the team should implement and test the connection only after selecting the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System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919"/>
                </a:solidFill>
                <a:latin typeface="Arial"/>
              </a:defRPr>
            </a:pPr>
            <a:r>
              <a:rPr sz="2000" b="1">
                <a:solidFill>
                  <a:srgbClr val="191919"/>
                </a:solidFill>
                <a:latin typeface="Arial"/>
              </a:rPr>
              <a:t>Recognition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31720"/>
            <a:ext cx="1600200" cy="10972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Camera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98648"/>
            <a:ext cx="1271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Video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331720"/>
            <a:ext cx="1600200" cy="10972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4414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Hand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2898648"/>
            <a:ext cx="1271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Locate hand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331720"/>
            <a:ext cx="1600200" cy="10972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4414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rPr sz="1500" b="1">
                <a:solidFill>
                  <a:srgbClr val="DC0012"/>
                </a:solidFill>
                <a:latin typeface="Arial"/>
              </a:rPr>
              <a:t>Feature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898648"/>
            <a:ext cx="1271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Hand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31720"/>
            <a:ext cx="1417320" cy="10972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44144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AI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898648"/>
            <a:ext cx="1088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1919"/>
                </a:solidFill>
                <a:latin typeface="Arial"/>
              </a:defRPr>
            </a:pPr>
            <a:r>
              <a:rPr sz="1300" b="0">
                <a:solidFill>
                  <a:srgbClr val="191919"/>
                </a:solidFill>
                <a:latin typeface="Arial"/>
              </a:rPr>
              <a:t>Predict 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331720"/>
            <a:ext cx="1234440" cy="1097280"/>
          </a:xfrm>
          <a:prstGeom prst="roundRect">
            <a:avLst/>
          </a:prstGeom>
          <a:solidFill>
            <a:srgbClr val="DCEEF3"/>
          </a:solidFill>
          <a:ln w="1905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4414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0012"/>
                </a:solidFill>
                <a:latin typeface="Arial"/>
              </a:defRPr>
            </a:pPr>
            <a:r>
              <a:rPr sz="1600" b="1">
                <a:solidFill>
                  <a:srgbClr val="DC0012"/>
                </a:solidFill>
                <a:latin typeface="Arial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898648"/>
            <a:ext cx="905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rPr sz="1200" b="0">
                <a:solidFill>
                  <a:srgbClr val="191919"/>
                </a:solidFill>
                <a:latin typeface="Arial"/>
              </a:rPr>
              <a:t>Text / speech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029968" y="2633472"/>
            <a:ext cx="347472" cy="41148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041648" y="2633472"/>
            <a:ext cx="347472" cy="41148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6053328" y="2633472"/>
            <a:ext cx="347472" cy="41148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7882127" y="2633472"/>
            <a:ext cx="347472" cy="411480"/>
          </a:xfrm>
          <a:prstGeom prst="rightArrow">
            <a:avLst/>
          </a:prstGeom>
          <a:solidFill>
            <a:srgbClr val="2D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91919"/>
                </a:solidFill>
                <a:latin typeface="Arial"/>
              </a:defRPr>
            </a:pPr>
            <a:r>
              <a:rPr sz="1600" b="0">
                <a:solidFill>
                  <a:srgbClr val="191919"/>
                </a:solidFill>
                <a:latin typeface="Arial"/>
              </a:rPr>
              <a:t>Training: collect labelled examples → prepare the data → train the model → test how well it works.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91919"/>
                </a:solidFill>
                <a:latin typeface="Arial"/>
              </a:defRPr>
            </a:pPr>
            <a:r>
              <a:rPr sz="1600" b="0">
                <a:solidFill>
                  <a:srgbClr val="191919"/>
                </a:solidFill>
                <a:latin typeface="Arial"/>
              </a:rPr>
              <a:t>Live use: camera captures a sign → model predicts a label → system displays text. Low-confidence results should be marked “Not recognized”.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User Interface: Expected Screens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2560320" cy="19202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72768"/>
            <a:ext cx="23408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Home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75104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Project title</a:t>
            </a:r>
            <a:br/>
            <a:r>
              <a:t>Start Camera button</a:t>
            </a:r>
            <a:br/>
            <a:r>
              <a:t>Instructions and supported signs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463040"/>
            <a:ext cx="2560320" cy="19202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572768"/>
            <a:ext cx="23408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Recognition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75104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Camera preview</a:t>
            </a:r>
            <a:br/>
            <a:r>
              <a:t>Recognized sign</a:t>
            </a:r>
            <a:br/>
            <a:r>
              <a:t>Confidence /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463040"/>
            <a:ext cx="2560320" cy="1920240"/>
          </a:xfrm>
          <a:prstGeom prst="roundRect">
            <a:avLst/>
          </a:prstGeom>
          <a:solidFill>
            <a:srgbClr val="DCEEF3"/>
          </a:solidFill>
          <a:ln w="17780">
            <a:solidFill>
              <a:srgbClr val="2D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1572768"/>
            <a:ext cx="23408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0012"/>
                </a:solidFill>
                <a:latin typeface="Arial"/>
              </a:defRPr>
            </a:pPr>
            <a:r>
              <a:t>Output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75104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1919"/>
                </a:solidFill>
                <a:latin typeface="Arial"/>
              </a:defRPr>
            </a:pPr>
            <a:r>
              <a:t>Text result</a:t>
            </a:r>
            <a:br/>
            <a:r>
              <a:t>Speak button (optional)</a:t>
            </a:r>
            <a:br/>
            <a:r>
              <a:t>Clear / try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8412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Show a clear message if camera permission is denied or no hand is detected.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Keep controls large and the result easy to read.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2  •  VEDANT PATIL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How AI Recognition Works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1. Collect examples: record supported gestures with labels.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2. Prepare data: crop or track the hand, resize/normalize inputs, and split data into training and test sets.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3. Train: teach a classifier to associate each example with a gesture label.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4. Predict: process a new camera frame and estimate the most likely label.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5. Apply a confidence threshold: if confidence is low, show “Please try again” instead of guessing.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6. Improve: review mistakes and add more varied examples.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From Camera Frames to Hand Landmarks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839419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 camera provides frames: still images captured many times per second.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Hand detection estimates where the hand is in each frame so the model can focus on the relevant area.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 landmark method identifies key points on the hand, such as fingertips and joints.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The landmark coordinates can be normalized so that differences in image size or hand position matter less.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The classifier then uses the image or the extracted features to predict one of the signs it was trained to recognize.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The team has not finalized the method yet; a landmark-based prototype is one practical option to investigate.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Data Collection and Model Training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Create a list of target signs before collecting samples.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Collect several examples per sign, from different hand positions and lighting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Label each sample correctly; inaccurate labels lead to inaccurate predictions.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Keep separate training and test examples so evaluation is fair.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Do not use only one person's hand or one background; include variation where possible.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Ask for consent before recording people, and store only the data needed for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Possible AI Approaches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53312"/>
          <a:ext cx="87325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19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it works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Trade-off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19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Rule-based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Hand-coded rules for shapes or positions.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Easy to explain, but brittle when lighting or hand position changes.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19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Traditional ML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Extract features, then train a classifier.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Can be lightweight; performance depends on feature quality.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19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CNN / deep learning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Learns useful visual patterns from labelled images.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Needs enough suitable training data and more computing.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1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Hand landmarks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Classifies hand-joint coordinates from a tracker.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A practical prototype path, but tracking errors affect prediction.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74243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A3B8"/>
                </a:solidFill>
                <a:latin typeface="Arial"/>
              </a:defRPr>
            </a:pPr>
            <a:r>
              <a:t>Final model choice should follow a small proof of concept and fair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Confidence and Error Handling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839419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 classifier may return a label along with a confidence score or probability estimate.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Choose a confidence threshold using validation data; there is no universal threshold that suits every model.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If the score is too low, display “Sign not recognized — try again” instead of showing a guess as fact.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Handle common errors clearly: camera permission denied, no hand detected, unsupported sign, or backend not available.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For live video, use a short sequence of consistent predictions or smoothing to reduce flickering labels.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 confidence score is not proof of correctness; test actual predictions before making performance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Testing and Evaluation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Functional tests: camera starts, prediction appears, reset works, and errors are handled.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Accuracy: compare predicted labels with known test labels.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Per-sign results: check which gestures are recognized well and which are confused.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Robustness: test different lighting, distances, backgrounds, and users.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Response time: check whether the result appears quickly enough for a useful demo.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Report actual measured results only after running tests; do not invent accuracy percentages.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DC0012"/>
                </a:solidFill>
                <a:latin typeface="Arial"/>
              </a:defRPr>
            </a:pPr>
            <a:r>
              <a:t>Challenges and Possible Solutions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839419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Poor lighting: test in bright and dim rooms, and give users simple positioning guidance.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Busy backgrounds: keep the hand clearly visible and test against more than one background.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Different hand sizes and signing styles: collect diverse samples and check which users the model struggles with.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Similar-looking signs: review confusion pairs and collect more examples for those signs.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Unsupported or moving signs: keep the first release scope small and clearly state what it can recognize.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Camera or network errors: show friendly error messages and provide a retry 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3  •  ARJIT UPADHYAY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C0012"/>
                </a:solidFill>
                <a:latin typeface="Arial"/>
              </a:defRPr>
            </a:pPr>
            <a:r>
              <a:t>Applications and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412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Education: support communication and learning activities.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Public services: provide an additional aid at help desks and information counters.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Healthcare: help with simple interactions when the recognized signs are supported.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Accessibility: display text and, in a future version, speak the recognized words.</a:t>
            </a:r>
          </a:p>
          <a:p>
            <a:pPr>
              <a:buChar char="•"/>
              <a:defRPr sz="1800" b="0">
                <a:solidFill>
                  <a:srgbClr val="191919"/>
                </a:solidFill>
                <a:latin typeface="Arial"/>
              </a:defRPr>
            </a:pPr>
            <a:r>
              <a:t>Cost: a prototype may use a standard camera rather than special hardware.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0012"/>
                </a:solidFill>
                <a:latin typeface="Arial"/>
              </a:defRPr>
            </a:pPr>
            <a:r>
              <a:rPr sz="1400" b="1">
                <a:solidFill>
                  <a:srgbClr val="DC0012"/>
                </a:solidFill>
                <a:latin typeface="Arial"/>
              </a:rPr>
              <a:t>Important limitation: recognizing a few gestures is not the same as translating a whole sign language. Facial expressions, body movement, grammar, and regional differences also matter.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Privacy, Safety and Responsible Use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Ask permission before using the camera and explain what is captured.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Prefer local processing for a student prototype where practical.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Do not save images or videos unless needed and agreed to.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Make it clear when a sign is unsupported or the model is uncertain.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Treat the tool as a communication aid, not a replacement for a qualified interpreter in important situations.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Test with users respectfully and avoid claiming the system understands every sign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Team Work Distribution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020317"/>
              </p:ext>
            </p:extLst>
          </p:nvPr>
        </p:nvGraphicFramePr>
        <p:xfrm>
          <a:off x="640080" y="1417320"/>
          <a:ext cx="86410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Suggested role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Main responsibilities</a:t>
                      </a:r>
                    </a:p>
                  </a:txBody>
                  <a:tcPr marL="73152" marR="73152" marT="54864" marB="36576">
                    <a:solidFill>
                      <a:srgbClr val="2DA3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Satwik Patil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Frontend lead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rPr dirty="0" smtClean="0"/>
                        <a:t>HTML/CSS</a:t>
                      </a:r>
                      <a:r>
                        <a:rPr lang="en-US" dirty="0" smtClean="0"/>
                        <a:t>/bootstrap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layout, accessible result display, presentation integration.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Vedant Patil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JavaScript &amp; integration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Camera interaction, buttons, connecting the UI to the backend.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Arjit Upadhyay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AI / Python exploration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Dataset preparation, hand tracking/model experiments, evaluation.</a:t>
                      </a:r>
                    </a:p>
                  </a:txBody>
                  <a:tcPr marL="73152" marR="73152" marT="54864" marB="36576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Siddharth Madhavi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t>Backend &amp; testing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1919"/>
                          </a:solidFill>
                          <a:latin typeface="Arial"/>
                        </a:defRPr>
                      </a:pPr>
                      <a:r>
                        <a:rPr dirty="0"/>
                        <a:t>API design (Python or Java, decide later), test cases, documentation and demo checks.</a:t>
                      </a:r>
                    </a:p>
                  </a:txBody>
                  <a:tcPr marL="73152" marR="73152" marT="54864" marB="36576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669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A3B8"/>
                </a:solidFill>
                <a:latin typeface="Arial"/>
              </a:defRPr>
            </a:pPr>
            <a:r>
              <a:t>Roles are a starting suggestion; all members should understand the end-to-end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Development Roadmap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1 — Define supported signs, user flow, and success criteria.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2 — Build the HTML/CSS interface and JavaScript camera interaction.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3 — Create a small labelled dataset and test a Python-based recognition proof of concept.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4 — Connect frontend and model through a simple API; choose Java only if there is a clear reason.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5 — Test, record actual results, fix common errors, and prepare the demo.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Phase 6 — Document limitations, future work, and individual contributions.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The project aims to recognize a defined set of sign-language gestures and show their meaning as text.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A web interface can use HTML, CSS, and JavaScript; Python is a practical candidate for AI experimentation.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Java is optional and should be added only if it serves a clear backend requirement.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Success should be demonstrated through a working prototype and honest testing, not assumed accuracy.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The first goal is a small, reliable and accessible communication aid that the team can explain and improve.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8778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0012"/>
                </a:solidFill>
                <a:latin typeface="Arial"/>
              </a:defRPr>
            </a:pPr>
            <a:r>
              <a:t>References and Learning Resources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32764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OpenCV documentation: https://docs.opencv.org/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MediaPipe hand landmark documentation: https://ai.google.dev/edge/mediapipe/solutions/vision/hand_landmarker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TensorFlow tutorials: https://www.tensorflow.org/tutorials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MDN Web Docs — HTML, CSS, JavaScript, and browser camera APIs: https://developer.mozilla.org/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Use a dataset only after checking its licence, label quality, and suitability for the signs being recognized.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300216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A3B8"/>
                </a:solidFill>
                <a:latin typeface="Arial"/>
              </a:defRPr>
            </a:pPr>
            <a:r>
              <a:t>SPEAKER 4  •  SIDDHARTH MADHAVI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320040" y="6510528"/>
            <a:ext cx="10698480" cy="50292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365760" y="6629400"/>
            <a:ext cx="10698480" cy="292608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365760" y="6565392"/>
            <a:ext cx="10698480" cy="137160"/>
          </a:xfrm>
          <a:prstGeom prst="parallelogram">
            <a:avLst/>
          </a:prstGeom>
          <a:solidFill>
            <a:srgbClr val="D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63276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DC0012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191919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Arial"/>
              </a:defRPr>
            </a:pPr>
            <a:r>
              <a:t>Presented by Satwik Patil • Vedant Patil • Arjit Upadhyay • Siddharth Madhavi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63276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91919"/>
                </a:solidFill>
                <a:latin typeface="Arial"/>
              </a:defRPr>
            </a:pPr>
            <a:r>
              <a:t>Oct 13,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2742</Words>
  <Application>Microsoft Office PowerPoint</Application>
  <PresentationFormat>Custom</PresentationFormat>
  <Paragraphs>347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SIDD</cp:lastModifiedBy>
  <cp:revision>3</cp:revision>
  <dcterms:created xsi:type="dcterms:W3CDTF">2013-01-27T09:14:16Z</dcterms:created>
  <dcterms:modified xsi:type="dcterms:W3CDTF">2026-10-14T05:20:48Z</dcterms:modified>
  <cp:category/>
</cp:coreProperties>
</file>